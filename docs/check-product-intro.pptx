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648" y="502920"/>
            <a:ext cx="137160" cy="411480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84632"/>
            <a:ext cx="20116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42431"/>
                </a:solidFill>
                <a:latin typeface="Noto Sans CJK KR"/>
              </a:rPr>
              <a:t>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26464"/>
            <a:ext cx="1572768" cy="310896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35608"/>
            <a:ext cx="14630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개인 일정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901952"/>
            <a:ext cx="548640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242431"/>
                </a:solidFill>
                <a:latin typeface="Noto Sans CJK KR"/>
              </a:rPr>
              <a:t>잊지 않고,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242431"/>
                </a:solidFill>
                <a:latin typeface="Noto Sans CJK KR"/>
              </a:rPr>
              <a:t>차근차근 끝내는 하루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867912"/>
            <a:ext cx="50292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717381"/>
                </a:solidFill>
                <a:latin typeface="Noto Sans CJK KR"/>
              </a:rPr>
              <a:t>일정과 할 일을 한곳에 모으고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717381"/>
                </a:solidFill>
                <a:latin typeface="Noto Sans CJK KR"/>
              </a:rPr>
              <a:t>오늘 할 일부터 지난 기록까지 확인하세요.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879592"/>
            <a:ext cx="3986784" cy="420624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916168"/>
            <a:ext cx="3657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57C6"/>
                </a:solidFill>
                <a:latin typeface="Noto Sans CJK KR"/>
              </a:rPr>
              <a:t>오늘  ·  캘린더  ·  기록  ·  알림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786384"/>
            <a:ext cx="5056632" cy="5385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28232" y="804672"/>
            <a:ext cx="1207008" cy="5349240"/>
          </a:xfrm>
          <a:prstGeom prst="rect">
            <a:avLst/>
          </a:prstGeom>
          <a:solidFill>
            <a:srgbClr val="F0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1033271"/>
            <a:ext cx="310896" cy="310896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042415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033271"/>
            <a:ext cx="5029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42431"/>
                </a:solidFill>
                <a:latin typeface="Noto Sans CJK KR"/>
              </a:rPr>
              <a:t>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819655"/>
            <a:ext cx="960120" cy="384048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874519"/>
            <a:ext cx="685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오늘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350008"/>
            <a:ext cx="685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캘린더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825496"/>
            <a:ext cx="685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300984"/>
            <a:ext cx="685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1225296"/>
            <a:ext cx="27889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42431"/>
                </a:solidFill>
                <a:latin typeface="Noto Sans CJK KR"/>
              </a:rPr>
              <a:t>오늘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1746504"/>
            <a:ext cx="28529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해야 할 일을 한눈에 확인하세요.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2231136"/>
            <a:ext cx="1389888" cy="813816"/>
          </a:xfrm>
          <a:prstGeom prst="roundRect">
            <a:avLst/>
          </a:prstGeom>
          <a:solidFill>
            <a:srgbClr val="F9F8FB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40864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남은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0604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42431"/>
                </a:solidFill>
                <a:latin typeface="Noto Sans CJK KR"/>
              </a:rPr>
              <a:t>2개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192" y="2231136"/>
            <a:ext cx="1389888" cy="813816"/>
          </a:xfrm>
          <a:prstGeom prst="roundRect">
            <a:avLst/>
          </a:prstGeom>
          <a:solidFill>
            <a:srgbClr val="F9F8FB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340864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전체 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60604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42431"/>
                </a:solidFill>
                <a:latin typeface="Noto Sans CJK KR"/>
              </a:rPr>
              <a:t>3개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32841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42431"/>
                </a:solidFill>
                <a:latin typeface="Noto Sans CJK KR"/>
              </a:rPr>
              <a:t>오늘의 목록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3739896"/>
            <a:ext cx="3172968" cy="548640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01583" y="3904487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822191"/>
            <a:ext cx="25146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42431"/>
                </a:solidFill>
                <a:latin typeface="Noto Sans CJK KR"/>
              </a:rPr>
              <a:t>수학 문제집 3쪽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41648"/>
            <a:ext cx="2514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7381"/>
                </a:solidFill>
                <a:latin typeface="Noto Sans CJK KR"/>
              </a:rPr>
              <a:t>오후 4:00 · 공부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398264"/>
            <a:ext cx="3172968" cy="548640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01583" y="4562855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480559"/>
            <a:ext cx="25146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42431"/>
                </a:solidFill>
                <a:latin typeface="Noto Sans CJK KR"/>
              </a:rPr>
              <a:t>영어 단어 복습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00016"/>
            <a:ext cx="2514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7381"/>
                </a:solidFill>
                <a:latin typeface="Noto Sans CJK KR"/>
              </a:rPr>
              <a:t>오후 6:00 · 공부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8" y="5056631"/>
            <a:ext cx="3172968" cy="548640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01583" y="5221223"/>
            <a:ext cx="201168" cy="201168"/>
          </a:xfrm>
          <a:prstGeom prst="roundRect">
            <a:avLst/>
          </a:prstGeom>
          <a:solidFill>
            <a:srgbClr val="DDF4E8"/>
          </a:solidFill>
          <a:ln w="12700">
            <a:solidFill>
              <a:srgbClr val="268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0727" y="5221223"/>
            <a:ext cx="182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268463"/>
                </a:solidFill>
                <a:latin typeface="Noto Sans CJK K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38927"/>
            <a:ext cx="25146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17381"/>
                </a:solidFill>
                <a:latin typeface="Noto Sans CJK KR"/>
              </a:rPr>
              <a:t>독서 20분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358383"/>
            <a:ext cx="25146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17381"/>
                </a:solidFill>
                <a:latin typeface="Noto Sans CJK KR"/>
              </a:rPr>
              <a:t>완료 · 생활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6419088"/>
            <a:ext cx="3200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제품 소개  ·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89336" y="6419088"/>
            <a:ext cx="7680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192" y="320040"/>
            <a:ext cx="109728" cy="310896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2801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431"/>
                </a:solidFill>
                <a:latin typeface="Noto Sans CJK KR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3832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17381"/>
                </a:solidFill>
                <a:latin typeface="Noto Sans CJK KR"/>
              </a:rPr>
              <a:t>왜 check인가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42431"/>
                </a:solidFill>
                <a:latin typeface="Noto Sans CJK KR"/>
              </a:rPr>
              <a:t>기억에 의존하면 일정이 놓치기 쉽습니다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17381"/>
                </a:solidFill>
                <a:latin typeface="Noto Sans CJK KR"/>
              </a:rPr>
              <a:t>check는 해야 할 일을 적고, 확인하고, 마무리하는 흐름을 간단하게 만듭니다.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E7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6547104"/>
            <a:ext cx="45720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개인 일정 앱  · 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6547104"/>
            <a:ext cx="96926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2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331720"/>
            <a:ext cx="3182112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2569464"/>
            <a:ext cx="512064" cy="310896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578608"/>
            <a:ext cx="40233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2542032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657C6"/>
                </a:solidFill>
                <a:latin typeface="Noto Sans CJK KR"/>
              </a:rPr>
              <a:t>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27248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42431"/>
                </a:solidFill>
                <a:latin typeface="Noto Sans CJK KR"/>
              </a:rPr>
              <a:t>흩어진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675887"/>
            <a:ext cx="2724912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날짜가 있는 일정과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날짜 없는 할 일을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따로 챙겨야 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2331720"/>
            <a:ext cx="3182112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2569464"/>
            <a:ext cx="512064" cy="310896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578608"/>
            <a:ext cx="40233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2542032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657C6"/>
                </a:solidFill>
                <a:latin typeface="Noto Sans CJK KR"/>
              </a:rPr>
              <a:t>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3127248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42431"/>
                </a:solidFill>
                <a:latin typeface="Noto Sans CJK KR"/>
              </a:rPr>
              <a:t>반복되는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4024" y="3675887"/>
            <a:ext cx="2724912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오늘 무엇을 해야 하는지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여러 곳을 다시 열어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확인하게 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2331720"/>
            <a:ext cx="3182112" cy="2478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13648" y="2569464"/>
            <a:ext cx="512064" cy="310896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578608"/>
            <a:ext cx="40233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542032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657C6"/>
                </a:solidFill>
                <a:latin typeface="Noto Sans CJK KR"/>
              </a:rPr>
              <a:t>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2792" y="3127248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42431"/>
                </a:solidFill>
                <a:latin typeface="Noto Sans CJK KR"/>
              </a:rPr>
              <a:t>남지 않는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3675887"/>
            <a:ext cx="2724912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끝낸 일을 돌아보려면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완료한 내용을 다시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하나씩 찾아야 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5193792"/>
            <a:ext cx="10890504" cy="841248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358384"/>
            <a:ext cx="103784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KR"/>
              </a:rPr>
              <a:t>한곳에 기록 → 오늘 확인 → 완료 표시 → 기록에서 돌아보기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192" y="320040"/>
            <a:ext cx="109728" cy="310896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2801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431"/>
                </a:solidFill>
                <a:latin typeface="Noto Sans CJK KR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3832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17381"/>
                </a:solidFill>
                <a:latin typeface="Noto Sans CJK KR"/>
              </a:rPr>
              <a:t>핵심 경험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42431"/>
                </a:solidFill>
                <a:latin typeface="Noto Sans CJK KR"/>
              </a:rPr>
              <a:t>오늘 할 일을 기록부터 완료까지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17381"/>
                </a:solidFill>
                <a:latin typeface="Noto Sans CJK KR"/>
              </a:rPr>
              <a:t>간단한 입력과 명확한 상태 표시로 하루의 흐름을 관리합니다.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E7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6547104"/>
            <a:ext cx="45720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개인 일정 앱  · 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6547104"/>
            <a:ext cx="96926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3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267712"/>
            <a:ext cx="6976872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542032"/>
            <a:ext cx="219456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42431"/>
                </a:solidFill>
                <a:latin typeface="Noto Sans CJK KR"/>
              </a:rPr>
              <a:t>오늘 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587752"/>
            <a:ext cx="1261872" cy="310896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3" y="2596896"/>
            <a:ext cx="1152143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남은 일정 2개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108960"/>
            <a:ext cx="6364224" cy="667512"/>
          </a:xfrm>
          <a:prstGeom prst="roundRect">
            <a:avLst/>
          </a:prstGeom>
          <a:solidFill>
            <a:srgbClr val="F8F7FC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25526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17381"/>
                </a:solidFill>
                <a:latin typeface="Noto Sans CJK KR"/>
              </a:rPr>
              <a:t>새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3255264"/>
            <a:ext cx="2944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2431"/>
                </a:solidFill>
                <a:latin typeface="Noto Sans CJK KR"/>
              </a:rPr>
              <a:t>수학 문제집 3쪽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3236976"/>
            <a:ext cx="795528" cy="365760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00984"/>
            <a:ext cx="45720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추가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005072"/>
            <a:ext cx="6364224" cy="457200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078224"/>
            <a:ext cx="2788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42431"/>
                </a:solidFill>
                <a:latin typeface="Noto Sans CJK KR"/>
              </a:rPr>
              <a:t>수학 문제집 3쪽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96511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오늘 16:00 · 공부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087368"/>
            <a:ext cx="932688" cy="283464"/>
          </a:xfrm>
          <a:prstGeom prst="roundRect">
            <a:avLst/>
          </a:prstGeom>
          <a:solidFill>
            <a:srgbClr val="E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114800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657C6"/>
                </a:solidFill>
                <a:latin typeface="Noto Sans CJK KR"/>
              </a:rPr>
              <a:t>할 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535424"/>
            <a:ext cx="6364224" cy="457200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608576"/>
            <a:ext cx="2788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42431"/>
                </a:solidFill>
                <a:latin typeface="Noto Sans CJK KR"/>
              </a:rPr>
              <a:t>영어 단어 복습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26864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매일 반복 · 공부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17720"/>
            <a:ext cx="932688" cy="283464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4645152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657C6"/>
                </a:solidFill>
                <a:latin typeface="Noto Sans CJK KR"/>
              </a:rPr>
              <a:t>진행 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065776"/>
            <a:ext cx="6364224" cy="457200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138928"/>
            <a:ext cx="2788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42431"/>
                </a:solidFill>
                <a:latin typeface="Noto Sans CJK KR"/>
              </a:rPr>
              <a:t>독서 20분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57216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오늘 · 생활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148072"/>
            <a:ext cx="932688" cy="283464"/>
          </a:xfrm>
          <a:prstGeom prst="roundRect">
            <a:avLst/>
          </a:prstGeom>
          <a:solidFill>
            <a:srgbClr val="D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5175504"/>
            <a:ext cx="7863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8463"/>
                </a:solidFill>
                <a:latin typeface="Noto Sans CJK KR"/>
              </a:rPr>
              <a:t>완료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36992" y="2377440"/>
            <a:ext cx="361188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9872" y="2596896"/>
            <a:ext cx="457200" cy="457200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2688336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657C6"/>
                </a:solidFill>
                <a:latin typeface="Noto Sans CJK KR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3376" y="2523744"/>
            <a:ext cx="24688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2431"/>
                </a:solidFill>
                <a:latin typeface="Noto Sans CJK KR"/>
              </a:rPr>
              <a:t>적기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2898648"/>
            <a:ext cx="25146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제목·날짜·시간·메모를 입력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36992" y="3566160"/>
            <a:ext cx="361188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19872" y="3785616"/>
            <a:ext cx="457200" cy="457200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3877056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657C6"/>
                </a:solidFill>
                <a:latin typeface="Noto Sans CJK KR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3712464"/>
            <a:ext cx="24688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2431"/>
                </a:solidFill>
                <a:latin typeface="Noto Sans CJK KR"/>
              </a:rPr>
              <a:t>관리하기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3376" y="4087368"/>
            <a:ext cx="25146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수정·삭제, 매일/매주/매월 반복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36992" y="4754880"/>
            <a:ext cx="361188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19872" y="4974336"/>
            <a:ext cx="457200" cy="457200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11312" y="5065776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657C6"/>
                </a:solidFill>
                <a:latin typeface="Noto Sans CJK K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3376" y="4901184"/>
            <a:ext cx="24688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2431"/>
                </a:solidFill>
                <a:latin typeface="Noto Sans CJK KR"/>
              </a:rPr>
              <a:t>끝내기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3376" y="5276088"/>
            <a:ext cx="25146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17381"/>
                </a:solidFill>
                <a:latin typeface="Noto Sans CJK KR"/>
              </a:rPr>
              <a:t>상태를 바꾸고 완료를 구분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192" y="320040"/>
            <a:ext cx="109728" cy="310896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2801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431"/>
                </a:solidFill>
                <a:latin typeface="Noto Sans CJK KR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3832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17381"/>
                </a:solidFill>
                <a:latin typeface="Noto Sans CJK KR"/>
              </a:rPr>
              <a:t>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42431"/>
                </a:solidFill>
                <a:latin typeface="Noto Sans CJK KR"/>
              </a:rPr>
              <a:t>날짜와 기록, 알림까지 연결됩니다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17381"/>
                </a:solidFill>
                <a:latin typeface="Noto Sans CJK KR"/>
              </a:rPr>
              <a:t>오늘 화면을 넘어 앞으로 할 일과 완료한 일을 살펴볼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E7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6547104"/>
            <a:ext cx="45720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개인 일정 앱  · 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6547104"/>
            <a:ext cx="96926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4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304288"/>
            <a:ext cx="3182112" cy="3300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514600"/>
            <a:ext cx="2798064" cy="1325880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0704" y="2724912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27048" y="2724912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93391" y="2724912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59736" y="2724912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2724912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3172968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27048" y="3172968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93391" y="3172968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93391" y="3172968"/>
            <a:ext cx="329184" cy="320040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9736" y="3172968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26080" y="3172968"/>
            <a:ext cx="329184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05656"/>
            <a:ext cx="26517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42431"/>
                </a:solidFill>
                <a:latin typeface="Noto Sans CJK KR"/>
              </a:rPr>
              <a:t>캘린더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72584"/>
            <a:ext cx="26700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17381"/>
                </a:solidFill>
                <a:latin typeface="Noto Sans CJK KR"/>
              </a:rPr>
              <a:t>날짜를 눌러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17381"/>
                </a:solidFill>
                <a:latin typeface="Noto Sans CJK KR"/>
              </a:rPr>
              <a:t>그날의 일정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5424" y="2304288"/>
            <a:ext cx="3182112" cy="3300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27448" y="2514600"/>
            <a:ext cx="2798064" cy="1325880"/>
          </a:xfrm>
          <a:prstGeom prst="roundRect">
            <a:avLst/>
          </a:prstGeom>
          <a:solidFill>
            <a:srgbClr val="E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0912" y="3419855"/>
            <a:ext cx="265176" cy="256032"/>
          </a:xfrm>
          <a:prstGeom prst="roundRect">
            <a:avLst/>
          </a:prstGeom>
          <a:solidFill>
            <a:srgbClr val="8D8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77256" y="3072383"/>
            <a:ext cx="265176" cy="603504"/>
          </a:xfrm>
          <a:prstGeom prst="roundRect">
            <a:avLst/>
          </a:prstGeom>
          <a:solidFill>
            <a:srgbClr val="8D8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0" y="3264407"/>
            <a:ext cx="265176" cy="411480"/>
          </a:xfrm>
          <a:prstGeom prst="roundRect">
            <a:avLst/>
          </a:prstGeom>
          <a:solidFill>
            <a:srgbClr val="8D8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9944" y="2852927"/>
            <a:ext cx="265176" cy="822960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76288" y="3163823"/>
            <a:ext cx="265176" cy="512064"/>
          </a:xfrm>
          <a:prstGeom prst="roundRect">
            <a:avLst/>
          </a:prstGeom>
          <a:solidFill>
            <a:srgbClr val="8D8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105656"/>
            <a:ext cx="26517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42431"/>
                </a:solidFill>
                <a:latin typeface="Noto Sans CJK KR"/>
              </a:rPr>
              <a:t>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72584"/>
            <a:ext cx="26700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17381"/>
                </a:solidFill>
                <a:latin typeface="Noto Sans CJK KR"/>
              </a:rPr>
              <a:t>주간·월간 완료 내역과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17381"/>
                </a:solidFill>
                <a:latin typeface="Noto Sans CJK KR"/>
              </a:rPr>
              <a:t>카테고리별 비율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2304288"/>
            <a:ext cx="3182112" cy="3300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86216" y="2514600"/>
            <a:ext cx="2798064" cy="1325880"/>
          </a:xfrm>
          <a:prstGeom prst="roundRect">
            <a:avLst/>
          </a:prstGeom>
          <a:solidFill>
            <a:srgbClr val="D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05672" y="2743200"/>
            <a:ext cx="233172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2" y="2816352"/>
            <a:ext cx="19659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42431"/>
                </a:solidFill>
                <a:latin typeface="Noto Sans CJK KR"/>
              </a:rPr>
              <a:t>오늘 일정 2개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5672" y="3264408"/>
            <a:ext cx="1947672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0264" y="3346704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42431"/>
                </a:solidFill>
                <a:latin typeface="Noto Sans CJK KR"/>
              </a:rPr>
              <a:t>16:00 일정 알림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4105656"/>
            <a:ext cx="26517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42431"/>
                </a:solidFill>
                <a:latin typeface="Noto Sans CJK KR"/>
              </a:rPr>
              <a:t>알림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4672584"/>
            <a:ext cx="26700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17381"/>
                </a:solidFill>
                <a:latin typeface="Noto Sans CJK KR"/>
              </a:rPr>
              <a:t>오늘 요약과 일정 전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17381"/>
                </a:solidFill>
                <a:latin typeface="Noto Sans CJK KR"/>
              </a:rPr>
              <a:t>브라우저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5870448"/>
            <a:ext cx="108356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17381"/>
                </a:solidFill>
                <a:latin typeface="Noto Sans CJK KR"/>
              </a:rPr>
              <a:t>알림은 브라우저가 열려 있고 권한이 허용된 경우에 동작합니다.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192" y="320040"/>
            <a:ext cx="109728" cy="310896"/>
          </a:xfrm>
          <a:prstGeom prst="roundRect">
            <a:avLst/>
          </a:prstGeom>
          <a:solidFill>
            <a:srgbClr val="665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01752"/>
            <a:ext cx="12801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431"/>
                </a:solidFill>
                <a:latin typeface="Noto Sans CJK KR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38328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17381"/>
                </a:solidFill>
                <a:latin typeface="Noto Sans CJK KR"/>
              </a:rPr>
              <a:t>현재와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42431"/>
                </a:solidFill>
                <a:latin typeface="Noto Sans CJK KR"/>
              </a:rPr>
              <a:t>지금 쓸 수 있는 기능, 앞으로 확장할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17381"/>
                </a:solidFill>
                <a:latin typeface="Noto Sans CJK KR"/>
              </a:rPr>
              <a:t>구현된 기능과 기획 단계의 기능을 구분해 소개합니다.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E7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6547104"/>
            <a:ext cx="45720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개인 일정 앱  · 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3888" y="6547104"/>
            <a:ext cx="96926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17381"/>
                </a:solidFill>
                <a:latin typeface="Noto Sans CJK KR"/>
              </a:rPr>
              <a:t>5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2249424"/>
            <a:ext cx="527608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514600"/>
            <a:ext cx="1014984" cy="310896"/>
          </a:xfrm>
          <a:prstGeom prst="roundRect">
            <a:avLst/>
          </a:prstGeom>
          <a:solidFill>
            <a:srgbClr val="DD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23744"/>
            <a:ext cx="905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8463"/>
                </a:solidFill>
                <a:latin typeface="Noto Sans CJK KR"/>
              </a:rPr>
              <a:t>현재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35808"/>
            <a:ext cx="46634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42431"/>
                </a:solidFill>
                <a:latin typeface="Noto Sans CJK KR"/>
              </a:rPr>
              <a:t>바로 시작할 수 있는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694176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8463"/>
                </a:solidFill>
                <a:latin typeface="Noto Sans CJK K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94176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2431"/>
                </a:solidFill>
                <a:latin typeface="Noto Sans CJK KR"/>
              </a:rPr>
              <a:t>일정 추가·조회·수정·삭제와 완료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178808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8463"/>
                </a:solidFill>
                <a:latin typeface="Noto Sans CJK K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78808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2431"/>
                </a:solidFill>
                <a:latin typeface="Noto Sans CJK KR"/>
              </a:rPr>
              <a:t>반복 일정, 캘린더, 주간·월간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66344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8463"/>
                </a:solidFill>
                <a:latin typeface="Noto Sans CJK K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2431"/>
                </a:solidFill>
                <a:latin typeface="Noto Sans CJK KR"/>
              </a:rPr>
              <a:t>브라우저 알림과 localStorage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249424"/>
            <a:ext cx="527608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0528" y="2514600"/>
            <a:ext cx="1014984" cy="310896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523744"/>
            <a:ext cx="905256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57C6"/>
                </a:solidFill>
                <a:latin typeface="Noto Sans CJK KR"/>
              </a:rPr>
              <a:t>기획 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035808"/>
            <a:ext cx="466344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42431"/>
                </a:solidFill>
                <a:latin typeface="Noto Sans CJK KR"/>
              </a:rPr>
              <a:t>더 적게 입력하는 일정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694176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57C6"/>
                </a:solidFill>
                <a:latin typeface="Noto Sans CJK K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3694176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2431"/>
                </a:solidFill>
                <a:latin typeface="Noto Sans CJK KR"/>
              </a:rPr>
              <a:t>Gmail·디스코드에서 일정 자동 추출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4178808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57C6"/>
                </a:solidFill>
                <a:latin typeface="Noto Sans CJK K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4178808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2431"/>
                </a:solidFill>
                <a:latin typeface="Noto Sans CJK KR"/>
              </a:rPr>
              <a:t>AI 카테고리 분류와 한마디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63440"/>
            <a:ext cx="228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57C6"/>
                </a:solidFill>
                <a:latin typeface="Noto Sans CJK KR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4663440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2431"/>
                </a:solidFill>
                <a:latin typeface="Noto Sans CJK KR"/>
              </a:rPr>
              <a:t>일정 추천과 모바일 확장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" y="5934456"/>
            <a:ext cx="10853928" cy="384048"/>
          </a:xfrm>
          <a:prstGeom prst="roundRect">
            <a:avLst/>
          </a:prstGeom>
          <a:solidFill>
            <a:srgbClr val="EC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980176"/>
            <a:ext cx="1035100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657C6"/>
                </a:solidFill>
                <a:latin typeface="Noto Sans CJK KR"/>
              </a:rPr>
              <a:t>오늘의 일정부터 check에서 정리해 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